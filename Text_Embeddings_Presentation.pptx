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75" r:id="rId9"/>
    <p:sldId id="270" r:id="rId10"/>
    <p:sldId id="271" r:id="rId11"/>
    <p:sldId id="272" r:id="rId12"/>
    <p:sldId id="273" r:id="rId13"/>
    <p:sldId id="274" r:id="rId14"/>
    <p:sldId id="262" r:id="rId15"/>
    <p:sldId id="263" r:id="rId16"/>
    <p:sldId id="264" r:id="rId17"/>
    <p:sldId id="265" r:id="rId18"/>
    <p:sldId id="266" r:id="rId19"/>
    <p:sldId id="267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428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Are Text Embeddings?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Vectors, Semantic Similarity,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🔠 What Are Text Embeddings?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embeddings convert language into numerical vectors.</a:t>
            </a:r>
          </a:p>
          <a:p>
            <a:r>
              <a:t>Each piece of text is represented as a high-dimensional dense vector.</a:t>
            </a:r>
          </a:p>
          <a:p>
            <a:endParaRPr/>
          </a:p>
          <a:p>
            <a:r>
              <a:t>✅ Captures meaning and context</a:t>
            </a:r>
          </a:p>
          <a:p>
            <a:r>
              <a:t>✅ Enables comparison via similarity</a:t>
            </a:r>
          </a:p>
          <a:p>
            <a:r>
              <a:t>✅ Foundation of semantic search and RAG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Why Use Embeddings?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🔹 Similar texts have similar vectors</a:t>
            </a:r>
          </a:p>
          <a:p>
            <a:pPr marL="0" indent="0">
              <a:buNone/>
            </a:pPr>
            <a:r>
              <a:rPr dirty="0"/>
              <a:t>🔹 Enables semantic search (beyond keywords)</a:t>
            </a:r>
          </a:p>
          <a:p>
            <a:pPr marL="0" indent="0">
              <a:buNone/>
            </a:pPr>
            <a:r>
              <a:rPr dirty="0"/>
              <a:t>🔹 Used in clustering, recommendations, classification, RAG</a:t>
            </a:r>
          </a:p>
          <a:p>
            <a:endParaRPr dirty="0"/>
          </a:p>
          <a:p>
            <a:r>
              <a:rPr dirty="0"/>
              <a:t>"I love cats" ≈ "Cats are great" (high similarity)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Embedding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Text: "Protein builds muscle"</a:t>
            </a:r>
          </a:p>
          <a:p>
            <a:r>
              <a:t>Embedding: [0.13, -0.42, 0.87, ...] (1536-d)</a:t>
            </a:r>
          </a:p>
          <a:p>
            <a:endParaRPr/>
          </a:p>
          <a:p>
            <a:r>
              <a:t>Compared with:</a:t>
            </a:r>
          </a:p>
          <a:p>
            <a:r>
              <a:t>"Muscle grows with protein" → very similar vector</a:t>
            </a:r>
          </a:p>
          <a:p>
            <a:r>
              <a:t>"The weather is nice" → very different vector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🔢 OpenAI Embeddings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Model: text-embedding-ada-002</a:t>
            </a:r>
          </a:p>
          <a:p>
            <a:r>
              <a:rPr dirty="0"/>
              <a:t>Dimension: 1536</a:t>
            </a:r>
          </a:p>
          <a:p>
            <a:endParaRPr dirty="0"/>
          </a:p>
          <a:p>
            <a:r>
              <a:rPr dirty="0"/>
              <a:t>Usage:</a:t>
            </a:r>
          </a:p>
          <a:p>
            <a:r>
              <a:rPr dirty="0" err="1"/>
              <a:t>openai.Embedding.create</a:t>
            </a:r>
            <a:r>
              <a:rPr dirty="0"/>
              <a:t>(</a:t>
            </a:r>
          </a:p>
          <a:p>
            <a:r>
              <a:rPr dirty="0"/>
              <a:t>  input=["text here"],</a:t>
            </a:r>
          </a:p>
          <a:p>
            <a:r>
              <a:rPr dirty="0"/>
              <a:t>  model="text-embedding-ada-002")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Use Cases of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🔍 Semantic search &amp; retrieval</a:t>
            </a:r>
          </a:p>
          <a:p>
            <a:r>
              <a:t>🧠 Clustering and recommendations</a:t>
            </a:r>
          </a:p>
          <a:p>
            <a:r>
              <a:t>🗂️ Document similarity and deduplication</a:t>
            </a:r>
          </a:p>
          <a:p>
            <a:r>
              <a:t>🧾 Text classification</a:t>
            </a:r>
          </a:p>
          <a:p>
            <a:r>
              <a:t>📚 RAG (Retrieval-Augmented Generation)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Compare Embedding Models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OpenAI, SentenceTransformers, USE, Hugging Face, Word2Vec, SpaCy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B246-17FD-6907-89E2-AFCFC7F9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🧠 Popular Embedding Libraries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E620E1-FB37-D7C0-A807-F7577C9FF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322991"/>
              </p:ext>
            </p:extLst>
          </p:nvPr>
        </p:nvGraphicFramePr>
        <p:xfrm>
          <a:off x="0" y="1546097"/>
          <a:ext cx="8629650" cy="4454400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12664756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745218569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3736099163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556661868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349495943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813290090"/>
                    </a:ext>
                  </a:extLst>
                </a:gridCol>
              </a:tblGrid>
              <a:tr h="493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Library / Model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Type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Output Dim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Speed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Accuracy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Offline Use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843464"/>
                  </a:ext>
                </a:extLst>
              </a:tr>
              <a:tr h="505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OpenAI Embedding</a:t>
                      </a:r>
                      <a:endParaRPr lang="en-US" sz="150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API (Cloud-based)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1536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Fast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High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❌ No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028127"/>
                  </a:ext>
                </a:extLst>
              </a:tr>
              <a:tr h="505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SentenceTransformers</a:t>
                      </a:r>
                      <a:endParaRPr lang="en-US" sz="150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Local Transformer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384–1024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Moderate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High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Yes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355858"/>
                  </a:ext>
                </a:extLst>
              </a:tr>
              <a:tr h="917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Universal Sentence Encoder (USE)</a:t>
                      </a:r>
                      <a:endParaRPr lang="en-US" sz="150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TensorFlow Model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512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Moderate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👍 Good             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Yes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388456"/>
                  </a:ext>
                </a:extLst>
              </a:tr>
              <a:tr h="917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Hugging Face Transformers</a:t>
                      </a:r>
                      <a:endParaRPr lang="en-US" sz="150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Any Encoder Model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Varies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Slow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✅✅ Very High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Yes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828228"/>
                  </a:ext>
                </a:extLst>
              </a:tr>
              <a:tr h="493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Gensim Word2Vec</a:t>
                      </a:r>
                      <a:endParaRPr lang="en-US" sz="150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Word-Level Model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100–300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Very Fast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👎 Low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✅ Yes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981661"/>
                  </a:ext>
                </a:extLst>
              </a:tr>
              <a:tr h="493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 err="1"/>
                        <a:t>SpaCy</a:t>
                      </a:r>
                      <a:r>
                        <a:rPr lang="en-US" sz="1500" b="1" dirty="0"/>
                        <a:t> Vectors</a:t>
                      </a:r>
                      <a:endParaRPr lang="en-US" sz="15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Word/Phrase-Level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~300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Fast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👎 Basic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✅ Yes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991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35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SentenceTransformers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Models: all-MiniLM-L6-v2, paraphrase-MPNet-base-v2</a:t>
            </a:r>
          </a:p>
          <a:p>
            <a:r>
              <a:rPr dirty="0"/>
              <a:t>Sentence-level similarity</a:t>
            </a:r>
          </a:p>
          <a:p>
            <a:r>
              <a:rPr dirty="0"/>
              <a:t>Fast and works locally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lvl="1"/>
            <a:r>
              <a:rPr dirty="0" err="1"/>
              <a:t>model.encode</a:t>
            </a:r>
            <a:r>
              <a:rPr dirty="0"/>
              <a:t>('I love cats')</a:t>
            </a:r>
          </a:p>
          <a:p>
            <a:pPr lvl="1"/>
            <a:r>
              <a:rPr dirty="0" err="1"/>
              <a:t>util.cos_sim</a:t>
            </a:r>
            <a:r>
              <a:rPr dirty="0"/>
              <a:t>(emb1, emb2)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✅ Universal Sentence Encoder (USE)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by Google using TensorFlow Hub</a:t>
            </a:r>
          </a:p>
          <a:p>
            <a:r>
              <a:rPr dirty="0"/>
              <a:t>General-purpose semantic embeddings</a:t>
            </a:r>
          </a:p>
          <a:p>
            <a:r>
              <a:rPr dirty="0"/>
              <a:t>Great for fast prototyping</a:t>
            </a:r>
          </a:p>
          <a:p>
            <a:endParaRPr dirty="0"/>
          </a:p>
          <a:p>
            <a:r>
              <a:rPr dirty="0" err="1"/>
              <a:t>hub.load</a:t>
            </a:r>
            <a:r>
              <a:rPr dirty="0"/>
              <a:t>('https://tfhub.dev/google/universal-sentence-encoder/4')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Hugging Face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any encoder model (e.g., BERT, </a:t>
            </a:r>
            <a:r>
              <a:rPr dirty="0" err="1"/>
              <a:t>RoBERTa</a:t>
            </a:r>
            <a:r>
              <a:rPr dirty="0"/>
              <a:t>)</a:t>
            </a:r>
          </a:p>
          <a:p>
            <a:r>
              <a:rPr dirty="0"/>
              <a:t>Slower, needs pooling to get sentence embedding</a:t>
            </a:r>
          </a:p>
          <a:p>
            <a:endParaRPr dirty="0"/>
          </a:p>
          <a:p>
            <a:r>
              <a:rPr dirty="0" err="1"/>
              <a:t>outputs.last_hidden_state.mean</a:t>
            </a:r>
            <a:r>
              <a:rPr dirty="0"/>
              <a:t>(dim=1)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Word2Vec / SpaCy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Word-level vectors (not ideal for full sentences)</a:t>
            </a:r>
          </a:p>
          <a:p>
            <a:r>
              <a:rPr dirty="0"/>
              <a:t>You can average word vectors for a quick sentence representation</a:t>
            </a:r>
          </a:p>
          <a:p>
            <a:r>
              <a:rPr dirty="0"/>
              <a:t>Good for lightweight tasks or legacy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Summary: 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0350"/>
            <a:ext cx="8229600" cy="4525963"/>
          </a:xfrm>
        </p:spPr>
        <p:txBody>
          <a:bodyPr>
            <a:noAutofit/>
          </a:bodyPr>
          <a:lstStyle/>
          <a:p>
            <a:r>
              <a:rPr sz="2800" dirty="0"/>
              <a:t>OpenAI Embedding</a:t>
            </a:r>
            <a:endParaRPr lang="en-US" sz="2800" dirty="0"/>
          </a:p>
          <a:p>
            <a:pPr lvl="1"/>
            <a:r>
              <a:rPr sz="2400" dirty="0"/>
              <a:t> for best performance and cloud scale</a:t>
            </a:r>
          </a:p>
          <a:p>
            <a:r>
              <a:rPr sz="2800" dirty="0" err="1"/>
              <a:t>Sente</a:t>
            </a:r>
            <a:r>
              <a:rPr lang="en-US" sz="2800" dirty="0" err="1"/>
              <a:t>n</a:t>
            </a:r>
            <a:r>
              <a:rPr sz="2800" dirty="0" err="1"/>
              <a:t>ceTransformers</a:t>
            </a:r>
            <a:endParaRPr lang="en-US" sz="2800" dirty="0"/>
          </a:p>
          <a:p>
            <a:pPr lvl="1"/>
            <a:r>
              <a:rPr sz="2400" dirty="0"/>
              <a:t> for local fast search</a:t>
            </a:r>
          </a:p>
          <a:p>
            <a:r>
              <a:rPr sz="2800" dirty="0"/>
              <a:t>USE</a:t>
            </a:r>
            <a:endParaRPr lang="en-US" sz="2800" dirty="0"/>
          </a:p>
          <a:p>
            <a:pPr lvl="1"/>
            <a:r>
              <a:rPr sz="2400" dirty="0"/>
              <a:t> if you're in the TensorFlow ecosystem</a:t>
            </a:r>
          </a:p>
          <a:p>
            <a:r>
              <a:rPr sz="2800" dirty="0"/>
              <a:t>Hugging Face</a:t>
            </a:r>
            <a:endParaRPr lang="en-US" sz="2800" dirty="0"/>
          </a:p>
          <a:p>
            <a:pPr lvl="1"/>
            <a:r>
              <a:rPr sz="2400" dirty="0"/>
              <a:t> when you want model flexibility</a:t>
            </a:r>
          </a:p>
          <a:p>
            <a:r>
              <a:rPr sz="2800" dirty="0"/>
              <a:t>Word2Vec/</a:t>
            </a:r>
            <a:r>
              <a:rPr sz="2800" dirty="0" err="1"/>
              <a:t>SpaCy</a:t>
            </a:r>
            <a:endParaRPr lang="en-US" sz="2800" dirty="0"/>
          </a:p>
          <a:p>
            <a:pPr lvl="1"/>
            <a:r>
              <a:rPr sz="2400" dirty="0"/>
              <a:t>for word-level tasks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Output Dimension in Embeddings?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Vector Size, Why It Varies, and Its Trade-offs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🔢 What is Output Dim?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Text embeddings are dense vectors.</a:t>
            </a:r>
          </a:p>
          <a:p>
            <a:r>
              <a:t>The output dimension is the length of the vector — e.g., 384, 512, 768, 1536.</a:t>
            </a:r>
          </a:p>
          <a:p>
            <a:endParaRPr/>
          </a:p>
          <a:p>
            <a:r>
              <a:t>Example:</a:t>
            </a:r>
          </a:p>
          <a:p>
            <a:r>
              <a:t>'I love cats' → [0.42, -0.11, 0.87] (Dim=3 for demo)</a:t>
            </a:r>
          </a:p>
          <a:p>
            <a:r>
              <a:t>Real embeddings have much larger dimensions.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Why Do Dimensions Differ?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🔹 Each model has its own neural architecture.</a:t>
            </a:r>
          </a:p>
          <a:p>
            <a:pPr marL="0" indent="0">
              <a:buNone/>
            </a:pPr>
            <a:r>
              <a:rPr dirty="0"/>
              <a:t>🔹 Final layer size determines the output dim.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r>
              <a:rPr dirty="0" err="1"/>
              <a:t>MiniLM</a:t>
            </a:r>
            <a:r>
              <a:rPr dirty="0"/>
              <a:t> → 384</a:t>
            </a:r>
          </a:p>
          <a:p>
            <a:r>
              <a:rPr dirty="0"/>
              <a:t>BERT-base → 768</a:t>
            </a:r>
          </a:p>
          <a:p>
            <a:r>
              <a:rPr dirty="0"/>
              <a:t>OpenAI Ada-002 → 1536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90"/>
            <a:ext cx="9143999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240241"/>
            <a:ext cx="8070041" cy="122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⚖️ Dimensionality Trade-offs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CEE59-3D4C-722A-35D3-629586BCD6F2}"/>
              </a:ext>
            </a:extLst>
          </p:cNvPr>
          <p:cNvSpPr txBox="1"/>
          <p:nvPr/>
        </p:nvSpPr>
        <p:spPr>
          <a:xfrm>
            <a:off x="571351" y="2321476"/>
            <a:ext cx="3648656" cy="385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Key Takeaways: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Use </a:t>
            </a:r>
            <a:r>
              <a:rPr lang="en-US" sz="1700" b="1"/>
              <a:t>128–384</a:t>
            </a:r>
            <a:r>
              <a:rPr lang="en-US" sz="1700"/>
              <a:t> for fast retrieval (e.g., basic search engines)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Use </a:t>
            </a:r>
            <a:r>
              <a:rPr lang="en-US" sz="1700" b="1"/>
              <a:t>512–768</a:t>
            </a:r>
            <a:r>
              <a:rPr lang="en-US" sz="1700"/>
              <a:t> for general-purpose NLP tasks (e.g., similarity, classification)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Use </a:t>
            </a:r>
            <a:r>
              <a:rPr lang="en-US" sz="1700" b="1"/>
              <a:t>1024+</a:t>
            </a:r>
            <a:r>
              <a:rPr lang="en-US" sz="1700"/>
              <a:t> when accuracy and nuance matter (e.g., RAG, question answering)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ED2B0B-BB8E-6B54-7E91-935B92535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519850"/>
              </p:ext>
            </p:extLst>
          </p:nvPr>
        </p:nvGraphicFramePr>
        <p:xfrm>
          <a:off x="4298950" y="2495550"/>
          <a:ext cx="4673601" cy="314982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75935">
                  <a:extLst>
                    <a:ext uri="{9D8B030D-6E8A-4147-A177-3AD203B41FA5}">
                      <a16:colId xmlns:a16="http://schemas.microsoft.com/office/drawing/2014/main" val="2576505676"/>
                    </a:ext>
                  </a:extLst>
                </a:gridCol>
                <a:gridCol w="1992695">
                  <a:extLst>
                    <a:ext uri="{9D8B030D-6E8A-4147-A177-3AD203B41FA5}">
                      <a16:colId xmlns:a16="http://schemas.microsoft.com/office/drawing/2014/main" val="1325721069"/>
                    </a:ext>
                  </a:extLst>
                </a:gridCol>
                <a:gridCol w="1704971">
                  <a:extLst>
                    <a:ext uri="{9D8B030D-6E8A-4147-A177-3AD203B41FA5}">
                      <a16:colId xmlns:a16="http://schemas.microsoft.com/office/drawing/2014/main" val="1601349073"/>
                    </a:ext>
                  </a:extLst>
                </a:gridCol>
              </a:tblGrid>
              <a:tr h="685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Dimension Range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Pros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Cons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07673"/>
                  </a:ext>
                </a:extLst>
              </a:tr>
              <a:tr h="685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128–384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🔹 Very fast, compact, low storage need</a:t>
                      </a: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🔸 Limited semantic detail</a:t>
                      </a: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8221"/>
                  </a:ext>
                </a:extLst>
              </a:tr>
              <a:tr h="685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512–768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🔹 Good balance between speed &amp; accuracy</a:t>
                      </a: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🔸 Moderate resource usage</a:t>
                      </a: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881232"/>
                  </a:ext>
                </a:extLst>
              </a:tr>
              <a:tr h="685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1024+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🔹 High expressiveness &amp; nuance</a:t>
                      </a: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🔸 Slower, high memory/compute</a:t>
                      </a:r>
                    </a:p>
                  </a:txBody>
                  <a:tcPr marL="0" marR="46526" marT="18611" marB="1395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8447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❓ Does Bigger Always Mean Better?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🔸 Not necessarily!</a:t>
            </a:r>
          </a:p>
          <a:p>
            <a:r>
              <a:rPr dirty="0"/>
              <a:t>For fast search: 384–768 is usually enough</a:t>
            </a:r>
          </a:p>
          <a:p>
            <a:r>
              <a:rPr dirty="0"/>
              <a:t>For deep QA and domain-specific tasks: 1024–1536 can help</a:t>
            </a:r>
          </a:p>
          <a:p>
            <a:endParaRPr dirty="0"/>
          </a:p>
          <a:p>
            <a:r>
              <a:rPr dirty="0"/>
              <a:t>⚠️ You can't compare embeddings from different models directly if they have different dimensions.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🔹 Output Dim = number of elements in embedding vector</a:t>
            </a:r>
          </a:p>
          <a:p>
            <a:pPr marL="0" indent="0">
              <a:buNone/>
            </a:pPr>
            <a:r>
              <a:rPr dirty="0"/>
              <a:t>🔹 Depends on model design and architecture</a:t>
            </a:r>
          </a:p>
          <a:p>
            <a:pPr marL="0" indent="0">
              <a:buNone/>
            </a:pPr>
            <a:r>
              <a:rPr dirty="0"/>
              <a:t>🔹 Trade-off between speed, size, and accuracy</a:t>
            </a:r>
          </a:p>
          <a:p>
            <a:pPr marL="0" indent="0">
              <a:buNone/>
            </a:pPr>
            <a:r>
              <a:rPr dirty="0"/>
              <a:t>🔹 Use consistent dimensions when comparing embeddings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🛠️ Tips to Overcome Embedding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- Use contextual models (e.g., BERT, OpenAI, MiniLM)</a:t>
            </a:r>
          </a:p>
          <a:p>
            <a:r>
              <a:t>- Evaluate embeddings on semantic tasks, not just cosine sim</a:t>
            </a:r>
          </a:p>
          <a:p>
            <a:r>
              <a:t>- Use domain-specific models or fine-tune</a:t>
            </a:r>
          </a:p>
          <a:p>
            <a:r>
              <a:t>- Consider multilingual models if needed (LaBSE, XLM-R)</a:t>
            </a:r>
          </a:p>
          <a:p>
            <a:r>
              <a:t>- Be aware of bias — consider debiasing or auditing methods</a:t>
            </a:r>
          </a:p>
          <a:p>
            <a:r>
              <a:t>- Use approximate nearest neighbor tools like FAISS for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854</Words>
  <Application>Microsoft Office PowerPoint</Application>
  <PresentationFormat>On-screen Show (4:3)</PresentationFormat>
  <Paragraphs>167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What Are Text Embeddings?</vt:lpstr>
      <vt:lpstr>🔠 What Are Text Embeddings?</vt:lpstr>
      <vt:lpstr>🧠 Why Use Embeddings?</vt:lpstr>
      <vt:lpstr>📊 Embedding Example</vt:lpstr>
      <vt:lpstr>🔢 OpenAI Embeddings API</vt:lpstr>
      <vt:lpstr>🚀 Use Cases of Embeddings</vt:lpstr>
      <vt:lpstr>Compare Embedding Models in Python</vt:lpstr>
      <vt:lpstr>🧠 Popular Embedding Libraries</vt:lpstr>
      <vt:lpstr>✅ SentenceTransformers</vt:lpstr>
      <vt:lpstr>✅ Universal Sentence Encoder (USE)</vt:lpstr>
      <vt:lpstr>✅ Hugging Face Transformers</vt:lpstr>
      <vt:lpstr>✅ Word2Vec / SpaCy</vt:lpstr>
      <vt:lpstr>📊 Summary: When to Use What?</vt:lpstr>
      <vt:lpstr>What is Output Dimension in Embeddings?</vt:lpstr>
      <vt:lpstr>🔢 What is Output Dim?</vt:lpstr>
      <vt:lpstr>🧠 Why Do Dimensions Differ?</vt:lpstr>
      <vt:lpstr>⚖️ Dimensionality Trade-offs</vt:lpstr>
      <vt:lpstr>❓ Does Bigger Always Mean Better?</vt:lpstr>
      <vt:lpstr>✅ Summary</vt:lpstr>
      <vt:lpstr>🛠️ Tips to Overcome Embedding Challenges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Maryam Heidari</cp:lastModifiedBy>
  <cp:revision>4</cp:revision>
  <dcterms:created xsi:type="dcterms:W3CDTF">2013-01-27T09:14:16Z</dcterms:created>
  <dcterms:modified xsi:type="dcterms:W3CDTF">2025-07-12T23:39:25Z</dcterms:modified>
  <cp:category/>
</cp:coreProperties>
</file>